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Households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22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Kenya</c:v>
                  </c:pt>
                  <c:pt idx="1">
                    <c:v>Rwanda</c:v>
                  </c:pt>
                  <c:pt idx="2">
                    <c:v>Tanzania</c:v>
                  </c:pt>
                  <c:pt idx="3">
                    <c:v>Uganda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6068</c:v>
                </c:pt>
                <c:pt idx="1">
                  <c:v>8735</c:v>
                </c:pt>
                <c:pt idx="2">
                  <c:v>6620</c:v>
                </c:pt>
                <c:pt idx="3">
                  <c:v>2101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B122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Banked %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Kenya</c:v>
                  </c:pt>
                  <c:pt idx="1">
                    <c:v>Rwanda</c:v>
                  </c:pt>
                  <c:pt idx="2">
                    <c:v>Tanzania</c:v>
                  </c:pt>
                  <c:pt idx="3">
                    <c:v>Uganda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25.07</c:v>
                </c:pt>
                <c:pt idx="1">
                  <c:v>11.48</c:v>
                </c:pt>
                <c:pt idx="2">
                  <c:v>9.17</c:v>
                </c:pt>
                <c:pt idx="3">
                  <c:v>8.61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Logistic Regression</c:v>
                  </c:pt>
                  <c:pt idx="1">
                    <c:v>Random Forest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0.864</c:v>
                </c:pt>
                <c:pt idx="1">
                  <c:v>0.829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Logistic Regression</c:v>
                  </c:pt>
                  <c:pt idx="1">
                    <c:v>Random Forest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89</c:v>
                </c:pt>
                <c:pt idx="1">
                  <c:v>87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7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Very Low</c:v>
                  </c:pt>
                  <c:pt idx="1">
                    <c:v>Low</c:v>
                  </c:pt>
                  <c:pt idx="2">
                    <c:v>Medium</c:v>
                  </c:pt>
                  <c:pt idx="3">
                    <c:v>High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</c:v>
                </c:pt>
                <c:pt idx="1">
                  <c:v>9</c:v>
                </c:pt>
                <c:pt idx="2">
                  <c:v>5</c:v>
                </c:pt>
                <c:pt idx="3">
                  <c:v>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Project dataset and model outputs from your notebook (Train.csv/Test.csv; validation split; metrics).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Project dataset and stakeholder framing derived from your CRISP-DM notebook sections.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Dataset schema and counts from Train.csv / your Phase 2 outputs.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Country banked rates and class balance from your Phase 2 computations.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CRISP‑DM structure and pipeline steps documented in your notebook.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Validation metrics from your Phase 4 outputs (AUC: 0.864 vs 0.829; accuracy: 0.89 vs 0.87).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Confusion matrices and precision/recall patterns from your Phase 4 results.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Driver statements derived from logistic regression coefficient analysis performed on Train.csv in your environment.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Segment definition and distribution derived from model probability binning on Train.csv.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Deployment artifacts described are consistent with your Phase 6 plan and provided Excel tables.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Tables mirror your notebook results; full tables included in the provided XLSX.
[/Sources]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8092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Inclusion &amp; Household Economic Resilience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89720" y="1828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/ Stakeholder Deck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&amp; Sub‑Saharan Africa | Machine Learning + Policy‑Ready Insights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9659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delivers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2423160"/>
            <a:ext cx="6766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bank‑account ownership scoring model (Logistic Regression selected)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country insights (Kenya highlighted) + segment targeting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outputs ready for Excel/Tableau dashboards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2331720"/>
            <a:ext cx="3383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0" y="2331720"/>
            <a:ext cx="109728" cy="9601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275320" y="249631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households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75320" y="277063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23,524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046720" y="3429000"/>
            <a:ext cx="3383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46720" y="3429000"/>
            <a:ext cx="109728" cy="9601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359359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banked rate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75320" y="386791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14.1%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046720" y="4526280"/>
            <a:ext cx="3383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046720" y="4526280"/>
            <a:ext cx="109728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4690872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banked rate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75320" y="4965192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25.1%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Banks • Fintech • Regulators • NGOs • Employers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8092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Stakeholder Value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89720" y="1828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1–2: Business + Data Context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566928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23444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share of households remain unbanked.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 need evidence‑based targeting and product design.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inclusion + explain drivers + create segments.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429000"/>
            <a:ext cx="493776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decisions this enables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388620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Targeting: outreach to “very low” segments</a:t>
            </a:r>
            <a:endParaRPr lang="en-US" sz="125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Product: low‑cost accounts &amp; mobile onboarding</a:t>
            </a:r>
            <a:endParaRPr lang="en-US" sz="125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Policy: prioritize rural/low‑education groups</a:t>
            </a:r>
            <a:endParaRPr lang="en-US" sz="1250" dirty="0"/>
          </a:p>
          <a:p>
            <a:pPr marL="203200" indent="-2032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Monitoring: inclusion rate by country &amp; subgroup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0" y="960120"/>
            <a:ext cx="521208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0" y="1234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stakeholders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66560" y="1783080"/>
            <a:ext cx="44805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1783080"/>
            <a:ext cx="109728" cy="56692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967728" y="192024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&amp; MFIs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66560" y="2496312"/>
            <a:ext cx="44805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2496312"/>
            <a:ext cx="109728" cy="56692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6967728" y="263347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&amp; mobile money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66560" y="3209544"/>
            <a:ext cx="44805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3209544"/>
            <a:ext cx="109728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967728" y="334670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&amp; government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66560" y="3922776"/>
            <a:ext cx="44805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3922776"/>
            <a:ext cx="109728" cy="56692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6967728" y="405993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 &amp; development partners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766560" y="4636008"/>
            <a:ext cx="448056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0" y="4636008"/>
            <a:ext cx="109728" cy="5669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7" name="Text 25"/>
          <p:cNvSpPr/>
          <p:nvPr/>
        </p:nvSpPr>
        <p:spPr>
          <a:xfrm>
            <a:off x="6967728" y="477316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66560" y="5532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designed to be explainable and dashboard‑ready.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Inclusion &amp; Household Economic Resilience | Kenya &amp; Sub‑Saharan Africa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8092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89720" y="1828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features + coverage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585216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234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Train: 23,524 rows | Test: 10,086 rows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Countries: Kenya, Rwanda, Tanzania, Uganda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bank_account (Yes/No)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2697480"/>
            <a:ext cx="5486400" cy="34747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85292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used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3154680"/>
            <a:ext cx="51206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 age, gender, household_size</a:t>
            </a:r>
            <a:endParaRPr lang="en-US" sz="125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Socio‑economic: education_level, job_type</a:t>
            </a:r>
            <a:endParaRPr lang="en-US" sz="125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proxies: cellphone_access, location_type (urban/rural)</a:t>
            </a:r>
            <a:endParaRPr lang="en-US" sz="125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 context: marital_status, relationship_with_head</a:t>
            </a:r>
            <a:endParaRPr lang="en-US" sz="125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Time/country: year, country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37960" y="960120"/>
            <a:ext cx="507492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03720" y="12344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coverage (sample size)</a:t>
            </a:r>
            <a:endParaRPr lang="en-US" sz="18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812280" y="1737360"/>
          <a:ext cx="470916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 11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Inclusion &amp; Household Economic Resilience | Kenya &amp; Sub‑Saharan Africa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8092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Inclusion Landscape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89720" y="1828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rates + class imbalance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642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2344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Banked rate by country (Train)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banked rate: 14.1% | Kenya: 25.1%</a:t>
            </a:r>
            <a:endParaRPr lang="en-US" sz="12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14400" y="201168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092440" y="2011680"/>
            <a:ext cx="3429000" cy="4023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75320" y="21945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75320" y="26060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Unbanked: 85.9%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Banked: 14.1%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75320" y="3383280"/>
            <a:ext cx="30632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prioritize ROC‑AUC, precision/recall, and threshold tuning — not accuracy alone.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Inclusion &amp; Household Economic Resilience | Kenya &amp; Sub‑Saharan Africa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8092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(CRISP‑DM) &amp;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89720" y="1828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business to deployment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2344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End‑to‑end workflow used in this project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3520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97280" y="2029968"/>
            <a:ext cx="50292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19933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91640" y="2331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stakeholders, success criteria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828800"/>
            <a:ext cx="3520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2029968"/>
            <a:ext cx="502920" cy="50292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40680" y="19933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2331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EDA, quality checks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412480" y="1828800"/>
            <a:ext cx="3520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95360" y="2029968"/>
            <a:ext cx="502920" cy="5029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89720" y="19933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89720" y="2331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Encoding, split, pipelines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" y="3291840"/>
            <a:ext cx="3520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97280" y="3493008"/>
            <a:ext cx="502920" cy="5029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91640" y="34564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91640" y="3794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vs Random Forest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63440" y="3291840"/>
            <a:ext cx="3520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3493008"/>
            <a:ext cx="502920" cy="50292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40680" y="34564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40680" y="3794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ROC‑AUC, confusion matrix, drivers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412480" y="3291840"/>
            <a:ext cx="35204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595360" y="3493008"/>
            <a:ext cx="502920" cy="50292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89720" y="345643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89720" y="37947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+ dashboard datasets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14400" y="53492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Reproducibility: preprocessing + model combined in pipelines; stratified train/validation split.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Inclusion &amp; Household Economic Resilience | Kenya &amp; Sub‑Saharan Africa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8092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89720" y="1828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results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642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2344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outperformed Random Forest on ROC‑AUC</a:t>
            </a:r>
            <a:endParaRPr lang="en-US" sz="1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914400" y="1828800"/>
          <a:ext cx="55778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6583680" y="182880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914400" y="5623560"/>
            <a:ext cx="10698480" cy="5486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97280" y="574243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Use Logistic Regression as the primary model (higher AUC + better interpretability).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Inclusion &amp; Household Economic Resilience | Kenya &amp; Sub‑Saharan Africa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8092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Profile (Confusion Matrices)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89720" y="1828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models get right/wrong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642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2344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(Selected)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1234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(Benchmark)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45920"/>
          <a:ext cx="5212080" cy="192024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645920"/>
          <a:ext cx="5212080" cy="192024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173736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Pred: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Actual: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mid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914400" y="3840480"/>
            <a:ext cx="10698480" cy="237744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097280" y="397764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097280" y="429768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is conservative in predicting “banked” (high precision for class=1; fewer false positives).</a:t>
            </a:r>
            <a:endParaRPr lang="en-US" sz="125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captures more banked households (higher recall for class=1) but increases false positives.</a:t>
            </a:r>
            <a:endParaRPr lang="en-US" sz="125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outreach targeting, threshold tuning can trade precision vs recall based on program goals.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Inclusion &amp; Household Economic Resilience | Kenya &amp; Sub‑Saharan Africa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8092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 (Interpretability)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89720" y="1828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associated with inclusion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642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2344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factors associated with bank account ownership (Logistic Regression coefficients)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1874520"/>
            <a:ext cx="5257800" cy="429768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057400"/>
            <a:ext cx="4800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inclusion likelihood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423160"/>
            <a:ext cx="4800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Tertiary education — Strong positive association</a:t>
            </a:r>
            <a:endParaRPr lang="en-US" sz="125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employment (Govt/Private) — Higher inclusion likelihood</a:t>
            </a:r>
            <a:endParaRPr lang="en-US" sz="125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Cellphone access = Yes — Digital access advantage</a:t>
            </a:r>
            <a:endParaRPr lang="en-US" sz="125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location — Better access to services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720840" y="1874520"/>
            <a:ext cx="4892040" cy="42976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20574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inclusion likelihood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49440" y="2423160"/>
            <a:ext cx="44805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/ primary education — Lower inclusion likelihood</a:t>
            </a:r>
            <a:endParaRPr lang="en-US" sz="125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cellphone access — Reduced digital access</a:t>
            </a:r>
            <a:endParaRPr lang="en-US" sz="125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employment / no income — Lower formal adoption</a:t>
            </a:r>
            <a:endParaRPr lang="en-US" sz="125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location — Access barriers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Inclusion &amp; Household Economic Resilience | Kenya &amp; Sub‑Saharan Africa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8092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for Targeting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89720" y="1828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scores to action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642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2344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probability segments (Train)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enable program targeting (e.g., prioritize “Very Low” for outreach).</a:t>
            </a:r>
            <a:endParaRPr lang="en-US" sz="12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14400" y="2011680"/>
          <a:ext cx="65836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7726680" y="2011680"/>
            <a:ext cx="3886200" cy="40233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09560" y="219456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09560" y="2560320"/>
            <a:ext cx="35204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2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Low: outreach + literacy + low‑fee accounts</a:t>
            </a:r>
            <a:endParaRPr lang="en-US" sz="122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2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Low: simplify onboarding + mobile enablement</a:t>
            </a:r>
            <a:endParaRPr lang="en-US" sz="122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2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Medium: cross‑sell savings + bill pay</a:t>
            </a:r>
            <a:endParaRPr lang="en-US" sz="1220" dirty="0"/>
          </a:p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en-US" sz="12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retention + credit/insurance offers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Inclusion &amp; Household Economic Resilience | Kenya &amp; Sub‑Saharan Africa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8092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Outputs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89720" y="1828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stakeholders receive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642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2344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(dashboard‑ready)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10241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household file: inclusion_probability + inclusion_segment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Kenya‑focused extract for local targeting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artifact saved for reuse (pipeline + preprocessing)</a:t>
            </a:r>
            <a:endParaRPr lang="en-US" sz="14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tables for charting: country rates, model metrics, confusion matrices, segments, drivers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3749040"/>
            <a:ext cx="10698480" cy="256032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9319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dashboards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4251960"/>
            <a:ext cx="10332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score distribution (overall + by country)</a:t>
            </a:r>
            <a:endParaRPr lang="en-US" sz="125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counts by location_type / education_level / job_type</a:t>
            </a:r>
            <a:endParaRPr lang="en-US" sz="125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view: rural vs urban inclusion, priority segments</a:t>
            </a:r>
            <a:endParaRPr lang="en-US" sz="1250" dirty="0"/>
          </a:p>
          <a:p>
            <a:pPr marL="228600" indent="-228600">
              <a:lnSpc>
                <a:spcPct val="112000"/>
              </a:lnSpc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monitoring: confusion matrix + AUC tracking (if refreshed periodically)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Inclusion &amp; Household Economic Resilience | Kenya &amp; Sub‑Saharan Africa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46304"/>
            <a:ext cx="8092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Excel Chart Tables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89720" y="182880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Copy/paste or use the provided XLSX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64240" cy="5349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188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A: Banked rate by country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508760"/>
          <a:ext cx="5486400" cy="13716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(n)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Banked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Kenya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Rwanda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Tanzania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Uganda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91440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B: Model performance</a:t>
            </a:r>
            <a:endParaRPr lang="en-US" sz="135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383280"/>
          <a:ext cx="10698480" cy="1463040"/>
        </p:xfrm>
        <a:graphic>
          <a:graphicData uri="http://schemas.openxmlformats.org/drawingml/2006/table">
            <a:tbl>
              <a:tblPr/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ROC‑AUC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914400" y="5074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Use the companion Excel file to build charts quickly (Country rates, performance, confusion matrices, segments, drivers).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" y="6473952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Inclusion &amp; Household Economic Resilience | Kenya &amp; Sub‑Saharan Africa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KimutaiHub</dc:creator>
  <cp:lastModifiedBy>KimutaiHub</cp:lastModifiedBy>
  <cp:revision>1</cp:revision>
  <dcterms:created xsi:type="dcterms:W3CDTF">2026-01-22T14:40:35Z</dcterms:created>
  <dcterms:modified xsi:type="dcterms:W3CDTF">2026-01-22T14:40:35Z</dcterms:modified>
</cp:coreProperties>
</file>