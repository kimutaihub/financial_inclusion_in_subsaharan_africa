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T Ramillas" charset="1" panose="020E0000080000020004"/>
      <p:regular r:id="rId21"/>
    </p:embeddedFont>
    <p:embeddedFont>
      <p:font typeface="TT Interphases Bold" charset="1" panose="02000803060000020004"/>
      <p:regular r:id="rId22"/>
    </p:embeddedFont>
    <p:embeddedFont>
      <p:font typeface="TT Interphases" charset="1" panose="0200050302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8438843" y="9620250"/>
            <a:ext cx="918240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8079658" cy="10287000"/>
            <a:chOff x="0" y="0"/>
            <a:chExt cx="1251750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75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51750">
                  <a:moveTo>
                    <a:pt x="0" y="0"/>
                  </a:moveTo>
                  <a:lnTo>
                    <a:pt x="1251750" y="0"/>
                  </a:lnTo>
                  <a:lnTo>
                    <a:pt x="125175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7453" t="0" r="-745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4675" y="723900"/>
            <a:ext cx="544830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2799" spc="-55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FinTech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38843" y="4013752"/>
            <a:ext cx="9182407" cy="4533759"/>
            <a:chOff x="0" y="0"/>
            <a:chExt cx="12243210" cy="604501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90500"/>
              <a:ext cx="12243210" cy="352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Financial Inclusion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854684"/>
              <a:ext cx="12243210" cy="2190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19"/>
                </a:lnSpc>
              </a:pPr>
              <a:r>
                <a:rPr lang="en-US" b="true" sz="3399" spc="16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KIMUTAI KEVINE</a:t>
              </a:r>
            </a:p>
            <a:p>
              <a:pPr algn="l">
                <a:lnSpc>
                  <a:spcPts val="4419"/>
                </a:lnSpc>
              </a:pPr>
            </a:p>
            <a:p>
              <a:pPr algn="l" marL="0" indent="0" lvl="0">
                <a:lnSpc>
                  <a:spcPts val="4419"/>
                </a:lnSpc>
                <a:spcBef>
                  <a:spcPct val="0"/>
                </a:spcBef>
              </a:pPr>
              <a:r>
                <a:rPr lang="en-US" b="true" sz="3399" spc="16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2025/2026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292734"/>
            <a:ext cx="12488340" cy="360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5"/>
              </a:lnSpc>
              <a:spcBef>
                <a:spcPct val="0"/>
              </a:spcBef>
            </a:pPr>
            <a:r>
              <a:rPr lang="en-US" sz="4089">
                <a:solidFill>
                  <a:srgbClr val="26374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Financial inclusion is crucial for </a:t>
            </a:r>
            <a:r>
              <a:rPr lang="en-US" b="true" sz="4089">
                <a:solidFill>
                  <a:srgbClr val="263744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economic growth</a:t>
            </a:r>
            <a:r>
              <a:rPr lang="en-US" sz="4089">
                <a:solidFill>
                  <a:srgbClr val="26374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enabling participation in markets, reducing inequality, and fostering sustainable development. It empowers individuals and communities to improve their financial well-being.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Why It Matters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FINANCIAL INCLUSION'S IMPACT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6962" y="5143500"/>
            <a:ext cx="6057900" cy="1924494"/>
            <a:chOff x="0" y="0"/>
            <a:chExt cx="8077200" cy="25659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Adults Financially Included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03587"/>
              <a:ext cx="80772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statistic highlights that only </a:t>
              </a:r>
              <a:r>
                <a:rPr lang="en-US" b="true" sz="2100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42% of adults</a:t>
              </a:r>
              <a:r>
                <a:rPr lang="en-US" sz="2100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worldwide have access to essential financial services, limiting their economic opportunities.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66962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42%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2007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58%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2007" y="5143500"/>
            <a:ext cx="6057900" cy="1924494"/>
            <a:chOff x="0" y="0"/>
            <a:chExt cx="8077200" cy="25659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Adults Financially Excluded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03587"/>
              <a:ext cx="80772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Conversely, </a:t>
              </a:r>
              <a:r>
                <a:rPr lang="en-US" b="true" sz="2100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58% of adults</a:t>
              </a:r>
              <a:r>
                <a:rPr lang="en-US" sz="2100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remain excluded from financial services, emphasizing significant barriers to inclusion and economic participation.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491145" y="4739052"/>
            <a:ext cx="46196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238500" y="4739052"/>
            <a:ext cx="46196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5497512"/>
            <a:ext cx="5753100" cy="4122738"/>
            <a:chOff x="0" y="0"/>
            <a:chExt cx="7670800" cy="5496984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5220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Financial access remains hindered by significant barriers. Low income prevents </a:t>
              </a:r>
              <a:r>
                <a:rPr lang="en-US" b="true" sz="24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41%</a:t>
              </a:r>
              <a:r>
                <a:rPr lang="en-US" sz="24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individuals from participating in banking services, while </a:t>
              </a:r>
              <a:r>
                <a:rPr lang="en-US" b="true" sz="24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33%</a:t>
              </a:r>
              <a:r>
                <a:rPr lang="en-US" sz="24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face challenges due to distance from financial institutions. Additionally, </a:t>
              </a:r>
              <a:r>
                <a:rPr lang="en-US" b="true" sz="24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26%</a:t>
              </a:r>
              <a:r>
                <a:rPr lang="en-US" sz="24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the population struggles with literacy, further complicating access to essential services.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Barriers to Access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169545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Project Objectives and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010025" cy="1594485"/>
            <a:chOff x="0" y="0"/>
            <a:chExt cx="53467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53467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Inclusion Drivers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2962" y="1158875"/>
              <a:ext cx="533373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Identify factors that enhance financial access opportunities.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2962" y="895350"/>
              <a:ext cx="533373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419850" y="4248150"/>
            <a:ext cx="4010025" cy="1594485"/>
            <a:chOff x="0" y="0"/>
            <a:chExt cx="53467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53467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Trend Analysis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962" y="1158875"/>
              <a:ext cx="533373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Analyze data patterns to inform effective strategies.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2962" y="895350"/>
              <a:ext cx="533373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172950" y="4248150"/>
            <a:ext cx="4010025" cy="1594485"/>
            <a:chOff x="0" y="0"/>
            <a:chExt cx="53467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53467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Access Prediction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2962" y="1158875"/>
              <a:ext cx="533373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Predict future trends in financial inclusion rates.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2962" y="895350"/>
              <a:ext cx="533373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6934200"/>
            <a:ext cx="4010025" cy="1594485"/>
            <a:chOff x="0" y="0"/>
            <a:chExt cx="5346700" cy="212598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53467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Policy Formation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962" y="1158875"/>
              <a:ext cx="533373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Inform policies that promote equitable financial services.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12962" y="895350"/>
              <a:ext cx="533373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19850" y="6934200"/>
            <a:ext cx="4010025" cy="1594485"/>
            <a:chOff x="0" y="0"/>
            <a:chExt cx="5346700" cy="212598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6675"/>
              <a:ext cx="53467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Action Initiatives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2962" y="1158875"/>
              <a:ext cx="533373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Take action to close existing access gaps.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12962" y="895350"/>
              <a:ext cx="5333738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066911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691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066911">
                  <a:moveTo>
                    <a:pt x="0" y="0"/>
                  </a:moveTo>
                  <a:lnTo>
                    <a:pt x="1066911" y="0"/>
                  </a:lnTo>
                  <a:lnTo>
                    <a:pt x="1066911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7131049"/>
            <a:chOff x="0" y="0"/>
            <a:chExt cx="11099800" cy="950806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08101"/>
              <a:ext cx="110998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Key Dimensions for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803263"/>
              <a:ext cx="11099800" cy="3704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dataset encompasses critical dimensions including </a:t>
              </a:r>
              <a:r>
                <a:rPr lang="en-US" b="true" sz="3199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demographics, income, education, employment</a:t>
              </a:r>
              <a:r>
                <a:rPr lang="en-US" sz="3199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and access indicators, providing a comprehensive view of financial inclusion barriers and opportunities.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5554132"/>
              <a:ext cx="11099800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90500"/>
              <a:ext cx="11099800" cy="352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Dataset Overview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4998156"/>
            <a:ext cx="184328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81575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57250"/>
            <a:ext cx="15821025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Analytical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3857625"/>
            <a:ext cx="287655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Data 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5712531"/>
            <a:ext cx="287655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Ensuring high-quality data through removal of inaccuracies and inconsistencies.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81575" y="3857625"/>
            <a:ext cx="287655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Data Exploration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2625" y="5712531"/>
            <a:ext cx="283550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Analyzing datasets to uncover patterns and insights for better understanding.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3486150"/>
            <a:ext cx="2876550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Feature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4500" y="5712531"/>
            <a:ext cx="283845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Creating new variables that enhance model performance and predictive accuracy.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4998156"/>
            <a:ext cx="18432833" cy="0"/>
          </a:xfrm>
          <a:prstGeom prst="line">
            <a:avLst/>
          </a:prstGeom>
          <a:ln cap="flat" w="19050">
            <a:solidFill>
              <a:srgbClr val="2637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81575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57250"/>
            <a:ext cx="15821025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Analytical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3857625"/>
            <a:ext cx="287655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Modeling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5693481"/>
            <a:ext cx="2876550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374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phase constructs predictive models using selected features and training data sets.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81575" y="3857625"/>
            <a:ext cx="287655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2625" y="5693481"/>
            <a:ext cx="2835500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374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Performance metrics are calculated to assess the model's accuracy and effectiveness.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3857625"/>
            <a:ext cx="287655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999" spc="-59" strike="noStrike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4500" y="5693481"/>
            <a:ext cx="2838450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3744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Final predictions are generated and validated against real-world outcomes for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1695450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Demographic Inclusion Patterns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6886575" cy="1824355"/>
            <a:chOff x="0" y="0"/>
            <a:chExt cx="9182100" cy="243247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Male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2260" y="1139825"/>
              <a:ext cx="915984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48%</a:t>
              </a:r>
              <a:r>
                <a:rPr lang="en-US" sz="27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men have access to financial services.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6934200"/>
            <a:ext cx="6886575" cy="1824355"/>
            <a:chOff x="0" y="0"/>
            <a:chExt cx="9182100" cy="243247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Youth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2260" y="1139825"/>
              <a:ext cx="915984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Only </a:t>
              </a:r>
              <a:r>
                <a:rPr lang="en-US" b="true" sz="27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33%</a:t>
              </a:r>
              <a:r>
                <a:rPr lang="en-US" sz="27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youth participate in financial services.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96400" y="4248150"/>
            <a:ext cx="6886575" cy="1824355"/>
            <a:chOff x="0" y="0"/>
            <a:chExt cx="9182100" cy="243247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Female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2260" y="1139825"/>
              <a:ext cx="915984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36%</a:t>
              </a:r>
              <a:r>
                <a:rPr lang="en-US" sz="27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women are included in financial systems.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296400" y="6851333"/>
            <a:ext cx="6886575" cy="1990090"/>
            <a:chOff x="0" y="0"/>
            <a:chExt cx="9182100" cy="265345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Adults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2260" y="1360805"/>
              <a:ext cx="915984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51%</a:t>
              </a:r>
              <a:r>
                <a:rPr lang="en-US" sz="27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adults have access to financial services.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22260" y="1005840"/>
              <a:ext cx="915984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639675" cy="3481069"/>
            <a:chOff x="0" y="0"/>
            <a:chExt cx="16852900" cy="46414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111202"/>
              <a:ext cx="14935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How economic status and education drive inclusion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6852900" cy="352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Income and Education 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5143500"/>
            <a:ext cx="8324850" cy="4476750"/>
            <a:chOff x="0" y="0"/>
            <a:chExt cx="1289737" cy="6935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737" cy="693566"/>
            </a:xfrm>
            <a:custGeom>
              <a:avLst/>
              <a:gdLst/>
              <a:ahLst/>
              <a:cxnLst/>
              <a:rect r="r" b="b" t="t" l="l"/>
              <a:pathLst>
                <a:path h="693566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693566"/>
                  </a:lnTo>
                  <a:lnTo>
                    <a:pt x="0" y="693566"/>
                  </a:lnTo>
                  <a:close/>
                </a:path>
              </a:pathLst>
            </a:custGeom>
            <a:blipFill>
              <a:blip r:embed="rId4"/>
              <a:stretch>
                <a:fillRect l="-140" t="0" r="-14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8324850" cy="4476750"/>
            <a:chOff x="0" y="0"/>
            <a:chExt cx="1289737" cy="6935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9737" cy="693566"/>
            </a:xfrm>
            <a:custGeom>
              <a:avLst/>
              <a:gdLst/>
              <a:ahLst/>
              <a:cxnLst/>
              <a:rect r="r" b="b" t="t" l="l"/>
              <a:pathLst>
                <a:path h="693566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693566"/>
                  </a:lnTo>
                  <a:lnTo>
                    <a:pt x="0" y="693566"/>
                  </a:lnTo>
                  <a:close/>
                </a:path>
              </a:pathLst>
            </a:custGeom>
            <a:blipFill>
              <a:blip r:embed="rId5"/>
              <a:stretch>
                <a:fillRect l="-140" t="0" r="-14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639675" cy="3481069"/>
            <a:chOff x="0" y="0"/>
            <a:chExt cx="16852900" cy="46414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111202"/>
              <a:ext cx="14935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Exploring disparities in access and inclusion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6852900" cy="352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Geographic &amp; Digital Divide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5143500"/>
            <a:ext cx="8324850" cy="4476750"/>
            <a:chOff x="0" y="0"/>
            <a:chExt cx="1289737" cy="6935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737" cy="693566"/>
            </a:xfrm>
            <a:custGeom>
              <a:avLst/>
              <a:gdLst/>
              <a:ahLst/>
              <a:cxnLst/>
              <a:rect r="r" b="b" t="t" l="l"/>
              <a:pathLst>
                <a:path h="693566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693566"/>
                  </a:lnTo>
                  <a:lnTo>
                    <a:pt x="0" y="693566"/>
                  </a:lnTo>
                  <a:close/>
                </a:path>
              </a:pathLst>
            </a:custGeom>
            <a:blipFill>
              <a:blip r:embed="rId4"/>
              <a:stretch>
                <a:fillRect l="-140" t="0" r="-14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8324850" cy="4476750"/>
            <a:chOff x="0" y="0"/>
            <a:chExt cx="1289737" cy="6935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9737" cy="693566"/>
            </a:xfrm>
            <a:custGeom>
              <a:avLst/>
              <a:gdLst/>
              <a:ahLst/>
              <a:cxnLst/>
              <a:rect r="r" b="b" t="t" l="l"/>
              <a:pathLst>
                <a:path h="693566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693566"/>
                  </a:lnTo>
                  <a:lnTo>
                    <a:pt x="0" y="693566"/>
                  </a:lnTo>
                  <a:close/>
                </a:path>
              </a:pathLst>
            </a:custGeom>
            <a:blipFill>
              <a:blip r:embed="rId5"/>
              <a:stretch>
                <a:fillRect l="-140" t="0" r="-14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4495482"/>
            <a:ext cx="5753100" cy="5124768"/>
            <a:chOff x="0" y="0"/>
            <a:chExt cx="7670800" cy="6833024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57175"/>
              <a:ext cx="7670800" cy="6575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analysis of employment types reveals significant disparities: </a:t>
              </a:r>
              <a:r>
                <a:rPr lang="en-US" b="true" sz="27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76%</a:t>
              </a:r>
              <a:r>
                <a:rPr lang="en-US" sz="27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individuals are formally employed, while </a:t>
              </a:r>
              <a:r>
                <a:rPr lang="en-US" b="true" sz="27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39%</a:t>
              </a:r>
              <a:r>
                <a:rPr lang="en-US" sz="27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work informally, and </a:t>
              </a:r>
              <a:r>
                <a:rPr lang="en-US" b="true" sz="2799" u="none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17%</a:t>
              </a:r>
              <a:r>
                <a:rPr lang="en-US" sz="2799" u="none">
                  <a:solidFill>
                    <a:srgbClr val="263744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remain unemployed. This distribution highlights the critical role of formal employment in ensuring economic stability and fostering financial inclusion across communities.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38200"/>
            <a:ext cx="6886575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 u="none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Employment Impact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6962" y="5143500"/>
            <a:ext cx="6057900" cy="2773489"/>
            <a:chOff x="0" y="0"/>
            <a:chExt cx="8077200" cy="369798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Model Accuracy Rate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84537"/>
              <a:ext cx="8077200" cy="2613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high accuracy indicates the model's effectiveness in predicting financial inclusion outcomes based on various socioeconomic factors.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66962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82%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2007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79%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2007" y="5143500"/>
            <a:ext cx="6057900" cy="2773489"/>
            <a:chOff x="0" y="0"/>
            <a:chExt cx="8077200" cy="36979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Model Precision Rate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84537"/>
              <a:ext cx="8077200" cy="2613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precision rate of 79% signifies the model's reliability in correctly identifying individuals who are financially included in the dataset.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491145" y="4739052"/>
            <a:ext cx="46196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238500" y="4739052"/>
            <a:ext cx="461962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140779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63744"/>
                </a:solidFill>
                <a:latin typeface="TT Ramillas"/>
                <a:ea typeface="TT Ramillas"/>
                <a:cs typeface="TT Ramillas"/>
                <a:sym typeface="TT Ramillas"/>
              </a:rPr>
              <a:t>Key Findings on Financial Inclusion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25900" y="777240"/>
            <a:ext cx="895350" cy="895350"/>
            <a:chOff x="0" y="0"/>
            <a:chExt cx="1193800" cy="119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3300" y="3851275"/>
            <a:ext cx="2571750" cy="2187394"/>
            <a:chOff x="0" y="0"/>
            <a:chExt cx="3429000" cy="291652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3429000" cy="42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3"/>
                </a:lnSpc>
              </a:pPr>
              <a:r>
                <a:rPr lang="en-US" sz="2303" spc="-46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Education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17818"/>
              <a:ext cx="3429000" cy="189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5"/>
                </a:lnSpc>
                <a:spcBef>
                  <a:spcPct val="0"/>
                </a:spcBef>
              </a:pPr>
              <a:r>
                <a:rPr lang="en-US" b="true" sz="2060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Empowers individuals to engage financially and socially.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757467"/>
              <a:ext cx="3429000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43300" y="6934200"/>
            <a:ext cx="2571750" cy="2187394"/>
            <a:chOff x="0" y="0"/>
            <a:chExt cx="3429000" cy="291652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38100"/>
              <a:ext cx="3429000" cy="42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3"/>
                </a:lnSpc>
              </a:pPr>
              <a:r>
                <a:rPr lang="en-US" sz="2303" spc="-46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Rural Barriers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17818"/>
              <a:ext cx="3429000" cy="189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5"/>
                </a:lnSpc>
                <a:spcBef>
                  <a:spcPct val="0"/>
                </a:spcBef>
              </a:pPr>
              <a:r>
                <a:rPr lang="en-US" b="true" sz="2060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Continue to hinder financial participation and growth.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757467"/>
              <a:ext cx="3429000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588550" y="3851275"/>
            <a:ext cx="2571750" cy="2187394"/>
            <a:chOff x="0" y="0"/>
            <a:chExt cx="3429000" cy="291652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8100"/>
              <a:ext cx="3429000" cy="420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3"/>
                </a:lnSpc>
              </a:pPr>
              <a:r>
                <a:rPr lang="en-US" sz="2303" spc="-46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Digital Access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17818"/>
              <a:ext cx="3429000" cy="189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5"/>
                </a:lnSpc>
                <a:spcBef>
                  <a:spcPct val="0"/>
                </a:spcBef>
              </a:pPr>
              <a:r>
                <a:rPr lang="en-US" b="true" sz="2060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Increases opportunities for many underserved communities.</a:t>
              </a: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313" y="757467"/>
              <a:ext cx="3420687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588550" y="6934200"/>
            <a:ext cx="2571750" cy="2473144"/>
            <a:chOff x="0" y="0"/>
            <a:chExt cx="3429000" cy="329752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38100"/>
              <a:ext cx="3429000" cy="801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3"/>
                </a:lnSpc>
              </a:pPr>
              <a:r>
                <a:rPr lang="en-US" sz="2303" spc="-46">
                  <a:solidFill>
                    <a:srgbClr val="263744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Employment Stability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13" y="1398818"/>
              <a:ext cx="3420687" cy="189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5"/>
                </a:lnSpc>
                <a:spcBef>
                  <a:spcPct val="0"/>
                </a:spcBef>
              </a:pPr>
              <a:r>
                <a:rPr lang="en-US" b="true" sz="2060">
                  <a:solidFill>
                    <a:srgbClr val="263744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Enhances engagement and financial security for individuals.</a:t>
              </a:r>
            </a:p>
          </p:txBody>
        </p:sp>
        <p:sp>
          <p:nvSpPr>
            <p:cNvPr name="AutoShape 23" id="23"/>
            <p:cNvSpPr/>
            <p:nvPr/>
          </p:nvSpPr>
          <p:spPr>
            <a:xfrm>
              <a:off x="8313" y="1138467"/>
              <a:ext cx="3420687" cy="0"/>
            </a:xfrm>
            <a:prstGeom prst="line">
              <a:avLst/>
            </a:prstGeom>
            <a:ln cap="flat" w="25400">
              <a:solidFill>
                <a:srgbClr val="26374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12000" y="3800475"/>
            <a:ext cx="2571750" cy="2686050"/>
            <a:chOff x="0" y="0"/>
            <a:chExt cx="621258" cy="648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4"/>
              <a:stretch>
                <a:fillRect l="0" t="-193" r="0" b="-19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6750" y="3851275"/>
            <a:ext cx="2571750" cy="2686050"/>
            <a:chOff x="0" y="0"/>
            <a:chExt cx="621258" cy="6488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5"/>
              <a:stretch>
                <a:fillRect l="0" t="-193" r="0" b="-19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6750" y="6934200"/>
            <a:ext cx="2571750" cy="2686050"/>
            <a:chOff x="0" y="0"/>
            <a:chExt cx="621258" cy="6488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6"/>
              <a:stretch>
                <a:fillRect l="0" t="-193" r="0" b="-19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12000" y="6829425"/>
            <a:ext cx="2571750" cy="2686050"/>
            <a:chOff x="0" y="0"/>
            <a:chExt cx="621258" cy="6488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7"/>
              <a:stretch>
                <a:fillRect l="0" t="-193" r="0" b="-193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3300" y="6038850"/>
            <a:ext cx="2571750" cy="1956435"/>
            <a:chOff x="0" y="0"/>
            <a:chExt cx="3429000" cy="26085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34290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Digital Banking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34290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Expanding access</a:t>
              </a: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to financial services for everyone.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895350"/>
              <a:ext cx="342900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038850"/>
            <a:ext cx="2571750" cy="2327910"/>
            <a:chOff x="0" y="0"/>
            <a:chExt cx="3429000" cy="31038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34290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Microfinance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6175"/>
              <a:ext cx="34290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Supporting small businesses</a:t>
              </a: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local economies effectively.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8313" y="895350"/>
              <a:ext cx="3420687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049500" y="6038850"/>
            <a:ext cx="2571750" cy="2699385"/>
            <a:chOff x="0" y="0"/>
            <a:chExt cx="3429000" cy="35991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9605" y="66675"/>
              <a:ext cx="3419395" cy="1025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FFFF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Financial Education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41475"/>
              <a:ext cx="34290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Enhancing knowledge</a:t>
              </a:r>
              <a:r>
                <a:rPr lang="en-US" sz="21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better financial decision-making.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9605" y="1390650"/>
              <a:ext cx="3419395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857250"/>
            <a:ext cx="140779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Key Policy Opportunities for Financial Inclusion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6038850"/>
            <a:ext cx="2571750" cy="3581400"/>
            <a:chOff x="0" y="0"/>
            <a:chExt cx="621258" cy="8651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258" cy="865159"/>
            </a:xfrm>
            <a:custGeom>
              <a:avLst/>
              <a:gdLst/>
              <a:ahLst/>
              <a:cxnLst/>
              <a:rect r="r" b="b" t="t" l="l"/>
              <a:pathLst>
                <a:path h="86515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865159"/>
                  </a:lnTo>
                  <a:lnTo>
                    <a:pt x="0" y="865159"/>
                  </a:lnTo>
                  <a:close/>
                </a:path>
              </a:pathLst>
            </a:custGeom>
            <a:blipFill>
              <a:blip r:embed="rId2"/>
              <a:stretch>
                <a:fillRect l="0" t="-303" r="0" b="-30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19850" y="6038850"/>
            <a:ext cx="2571750" cy="3581400"/>
            <a:chOff x="0" y="0"/>
            <a:chExt cx="621258" cy="865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258" cy="865159"/>
            </a:xfrm>
            <a:custGeom>
              <a:avLst/>
              <a:gdLst/>
              <a:ahLst/>
              <a:cxnLst/>
              <a:rect r="r" b="b" t="t" l="l"/>
              <a:pathLst>
                <a:path h="86515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865159"/>
                  </a:lnTo>
                  <a:lnTo>
                    <a:pt x="0" y="865159"/>
                  </a:lnTo>
                  <a:close/>
                </a:path>
              </a:pathLst>
            </a:custGeom>
            <a:blipFill>
              <a:blip r:embed="rId3"/>
              <a:stretch>
                <a:fillRect l="0" t="-303" r="0" b="-30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87012" y="6038850"/>
            <a:ext cx="2571750" cy="3581400"/>
            <a:chOff x="0" y="0"/>
            <a:chExt cx="621258" cy="8651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258" cy="865159"/>
            </a:xfrm>
            <a:custGeom>
              <a:avLst/>
              <a:gdLst/>
              <a:ahLst/>
              <a:cxnLst/>
              <a:rect r="r" b="b" t="t" l="l"/>
              <a:pathLst>
                <a:path h="86515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865159"/>
                  </a:lnTo>
                  <a:lnTo>
                    <a:pt x="0" y="865159"/>
                  </a:lnTo>
                  <a:close/>
                </a:path>
              </a:pathLst>
            </a:custGeom>
            <a:blipFill>
              <a:blip r:embed="rId4"/>
              <a:stretch>
                <a:fillRect l="0" t="-303" r="0" b="-30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725900" y="777240"/>
            <a:ext cx="895350" cy="895350"/>
            <a:chOff x="0" y="0"/>
            <a:chExt cx="1193800" cy="1193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Financial Inclusion</dc:description>
  <dc:identifier>DAHA8a-qNS0</dc:identifier>
  <dcterms:modified xsi:type="dcterms:W3CDTF">2011-08-01T06:04:30Z</dcterms:modified>
  <cp:revision>1</cp:revision>
  <dc:title>Presentation - Financial Inclusion</dc:title>
</cp:coreProperties>
</file>